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Detección de inconsistencias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en historias clínicas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2EBF2"/>
                </a:solidFill>
              </a:defRPr>
            </a:pPr>
            <a:r>
              <a:t>Proyecto CITIMED · MIA Detección HC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Patricio Bayas Meza · José Puebla Paladines · Marco Zurita Rojas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2026 · github.com/marcoz1691/MIA_Deteccion_HC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</a:defRPr>
            </a:pPr>
            <a:r>
              <a:t>¿Por qué importa detectar inconsistencias?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Las historias clínicas pueden contener errores de documentación que afectan la seguridad del paciente.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Ejemplos: medicación contraindicada, diagnóstico incompatible con el plan, datos de laboratorio incoherentes.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Revisar manualmente cada nota es lento, costoso y propenso a pasar errores por alto.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Objetivo: asistir al clínico señalando la oración sospechosa, no reemplazar su juicio.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¿Qué es una inconsistencia clínica?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Quién la crea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Quién la detecta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Errores del profesional al redactar la nota.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Contradicciones entre secciones (antecedentes, diagnóstico, plan).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Incompatibilidad con hechos médicos o guías clínicas.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En evaluación: anotadores del dataset MEDEC marcan la oración errónea.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El sistema automático (TF-IDF + LLM + RAG).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Segmenta la nota en oraciones y puntúa cada una (0–1).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Devuelve top-1: la oración más sospechosa.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El médico valida la alerta y decide la acción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Insight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</a:defRPr>
            </a:pPr>
            <a:r>
              <a:t>De nivel nota → nivel 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En MEDEC, la nota con error y la corregida comparten ~96,6 % del texto idéntico.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La oración errónea representa solo ~8,9 % del contenido total.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Clasificar toda la nota (baseline S6): ROC-AUC ≈ 0,504 → equivalente al azar.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Reformular a nivel oración (S7): ROC-AUC ≈ 0,949 y localización top-1 ≈ 84,6 %.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Conclusión: detectar inconsistencias exige razonamiento semántico, no solo léxico.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315" y="1992414"/>
            <a:ext cx="5127541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Entrada: </a:t>
            </a:r>
            <a:r>
              <a:rPr dirty="0" err="1"/>
              <a:t>texto</a:t>
            </a:r>
            <a:r>
              <a:rPr dirty="0"/>
              <a:t> libre de la </a:t>
            </a:r>
            <a:r>
              <a:rPr dirty="0" err="1"/>
              <a:t>historia</a:t>
            </a:r>
            <a:r>
              <a:rPr dirty="0"/>
              <a:t> </a:t>
            </a:r>
            <a:r>
              <a:rPr dirty="0" err="1"/>
              <a:t>clínica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1. </a:t>
            </a:r>
            <a:r>
              <a:rPr dirty="0" err="1"/>
              <a:t>Segmentación</a:t>
            </a:r>
            <a:r>
              <a:rPr dirty="0"/>
              <a:t> → </a:t>
            </a:r>
            <a:r>
              <a:rPr dirty="0" err="1"/>
              <a:t>oraciones</a:t>
            </a:r>
            <a:r>
              <a:rPr dirty="0"/>
              <a:t> </a:t>
            </a:r>
            <a:r>
              <a:rPr dirty="0" err="1"/>
              <a:t>numeradas</a:t>
            </a:r>
            <a:r>
              <a:rPr dirty="0"/>
              <a:t> (</a:t>
            </a:r>
            <a:r>
              <a:rPr dirty="0" err="1"/>
              <a:t>sid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2. Scoring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brazo</a:t>
            </a:r>
            <a:r>
              <a:rPr dirty="0"/>
              <a:t>: TF-IDF · LLM zero-shot · LLM + RAG (FAISS + </a:t>
            </a:r>
            <a:r>
              <a:rPr dirty="0" err="1"/>
              <a:t>guías</a:t>
            </a:r>
            <a:r>
              <a:rPr dirty="0"/>
              <a:t> </a:t>
            </a:r>
            <a:r>
              <a:rPr dirty="0" err="1"/>
              <a:t>clínicas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3. </a:t>
            </a:r>
            <a:r>
              <a:rPr dirty="0" err="1"/>
              <a:t>Fusión</a:t>
            </a:r>
            <a:r>
              <a:rPr dirty="0"/>
              <a:t> de scores → </a:t>
            </a:r>
            <a:r>
              <a:rPr dirty="0" err="1"/>
              <a:t>localización</a:t>
            </a:r>
            <a:r>
              <a:rPr dirty="0"/>
              <a:t> top-1 (65 % LLM + 35 % TF-IDF).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4. Salida: JSON con scores, </a:t>
            </a:r>
            <a:r>
              <a:rPr dirty="0" err="1"/>
              <a:t>alerta</a:t>
            </a:r>
            <a:r>
              <a:rPr dirty="0"/>
              <a:t> y </a:t>
            </a:r>
            <a:r>
              <a:rPr dirty="0" err="1"/>
              <a:t>oración</a:t>
            </a:r>
            <a:r>
              <a:rPr dirty="0"/>
              <a:t> a </a:t>
            </a:r>
            <a:r>
              <a:rPr dirty="0" err="1"/>
              <a:t>revisar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Interfaces: API </a:t>
            </a:r>
            <a:r>
              <a:rPr dirty="0" err="1"/>
              <a:t>FastAPI</a:t>
            </a:r>
            <a:r>
              <a:rPr dirty="0"/>
              <a:t> (8000) + React (5173) · Demo </a:t>
            </a:r>
            <a:r>
              <a:rPr dirty="0" err="1"/>
              <a:t>Streamlit</a:t>
            </a:r>
            <a:r>
              <a:rPr dirty="0"/>
              <a:t> (8501).</a:t>
            </a:r>
          </a:p>
        </p:txBody>
      </p:sp>
      <p:pic>
        <p:nvPicPr>
          <p:cNvPr id="5" name="Picture 4" descr="frontend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856" y="1389427"/>
            <a:ext cx="6795110" cy="45915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Tres brazos de inferencia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TF-IDF (S6)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LLM + RAG (S7)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Modelo léxico: n-gramas + regresión logística.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Entrenado sobre oraciones MEDEC con Error Sentence ID.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Rápido (~1–5 ms/oración), 100 % local.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Rol: baseline y fallback si la API LLM falla.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LLM zero-shot: ¿esta oración es inconsistente? (SI/NO).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LLM + RAG: contexto de guías (medicación, diagnóstico, odontología).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Razonamiento semántico anclado en conocimiento externo.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Modo demo: mock LLM local sin API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Ejemplo: error de medicación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Paciente con alergia documentada a penicilina.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Oración sospechosa: «Se indica amoxicilina 500 mg cada 8 h pese a alergia documentada a penicilina.»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El sistema resalta esa oración con score alto.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RAG recupera fragmentos de guías de farmacoterapia que justifican la alerta.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El clínico revisa y corrige la prescripción.</a:t>
            </a:r>
          </a:p>
        </p:txBody>
      </p:sp>
      <p:pic>
        <p:nvPicPr>
          <p:cNvPr id="5" name="Picture 4" descr="demo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03520" cy="3471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 principales (MEDEC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" y="192024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0936" y="2148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0.949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3337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Nivel oración (TF-IDF ajustado)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192024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11296" y="2148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0.419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AUPRC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3337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Prevalencia ~4,5 %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92024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6" y="2148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84.6 %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Localización top-1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337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263/311 notas con 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5" y="192024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72015" y="2148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0,504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5" y="2880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ROC-AUC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5" y="3337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Nivel nota (S6, azar)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46E7A"/>
                </a:solidFill>
              </a:defRPr>
            </a:pPr>
            <a:r>
              <a:t>Reformular la tarea de nota completa a oración individual eleva el rendimiento de azar (0,504) a discriminación clínica útil (0,949).</a:t>
            </a:r>
          </a:p>
        </p:txBody>
      </p:sp>
      <p:pic>
        <p:nvPicPr>
          <p:cNvPr id="21" name="Picture 20" descr="figura_aju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754880"/>
            <a:ext cx="5760720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Comparación tripartita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</a:defRPr>
            </a:pPr>
            <a:r>
              <a:t>TF-IDF vs LLM zero-shot vs LLM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364" y="2429486"/>
            <a:ext cx="447768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/>
              <a:t>TF-IDF </a:t>
            </a:r>
            <a:r>
              <a:rPr dirty="0" err="1"/>
              <a:t>supera</a:t>
            </a:r>
            <a:r>
              <a:rPr dirty="0"/>
              <a:t> al LLM mock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corpus (AUC ~0,95 vs ~0,50).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/>
              <a:t>El mock LLM </a:t>
            </a:r>
            <a:r>
              <a:rPr dirty="0" err="1"/>
              <a:t>simula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; con API real se </a:t>
            </a:r>
            <a:r>
              <a:rPr dirty="0" err="1"/>
              <a:t>espera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desempeño</a:t>
            </a:r>
            <a:r>
              <a:rPr dirty="0"/>
              <a:t> </a:t>
            </a:r>
            <a:r>
              <a:rPr dirty="0" err="1"/>
              <a:t>semántico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híbrida</a:t>
            </a:r>
            <a:r>
              <a:rPr dirty="0"/>
              <a:t> </a:t>
            </a:r>
            <a:r>
              <a:rPr dirty="0" err="1"/>
              <a:t>recomendada</a:t>
            </a:r>
            <a:r>
              <a:rPr dirty="0"/>
              <a:t>: TF-IDF pre-filtra → LLM+RAG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candidatas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/>
              <a:t>Fallback </a:t>
            </a:r>
            <a:r>
              <a:rPr dirty="0" err="1"/>
              <a:t>producción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la API </a:t>
            </a:r>
            <a:r>
              <a:rPr dirty="0" err="1"/>
              <a:t>cae</a:t>
            </a:r>
            <a:r>
              <a:rPr dirty="0"/>
              <a:t> → TF-IDF solo + </a:t>
            </a:r>
            <a:r>
              <a:rPr dirty="0" err="1"/>
              <a:t>alerta</a:t>
            </a:r>
            <a:r>
              <a:rPr dirty="0"/>
              <a:t> al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  <p:pic>
        <p:nvPicPr>
          <p:cNvPr id="6" name="Picture 5" descr="figura_comparacion_tripart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392" y="2696041"/>
            <a:ext cx="6731916" cy="1923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Análisis por tipo de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30769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 err="1"/>
              <a:t>Tipos</a:t>
            </a:r>
            <a:r>
              <a:rPr dirty="0"/>
              <a:t> MEDEC: diagnosis, pharmacotherapy, management, </a:t>
            </a:r>
            <a:r>
              <a:rPr dirty="0" err="1"/>
              <a:t>causalOrganism</a:t>
            </a:r>
            <a:r>
              <a:rPr dirty="0"/>
              <a:t>, </a:t>
            </a:r>
            <a:r>
              <a:rPr dirty="0" err="1"/>
              <a:t>testResult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/>
              <a:t>Mayor recall </a:t>
            </a:r>
            <a:r>
              <a:rPr dirty="0" err="1"/>
              <a:t>en</a:t>
            </a:r>
            <a:r>
              <a:rPr dirty="0"/>
              <a:t> diagnosis (~90 %) y pharmacotherapy (~86 %).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/>
              <a:t>Management es el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difícil</a:t>
            </a:r>
            <a:r>
              <a:rPr dirty="0"/>
              <a:t> (~68 % recall).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clínico</a:t>
            </a:r>
            <a:r>
              <a:rPr dirty="0"/>
              <a:t>.</a:t>
            </a:r>
          </a:p>
        </p:txBody>
      </p:sp>
      <p:pic>
        <p:nvPicPr>
          <p:cNvPr id="5" name="Picture 4" descr="heatmap_recall_por_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705" y="1768702"/>
            <a:ext cx="61264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Prototipo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FastAPI +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88"/>
                </a:solidFill>
              </a:defRPr>
            </a:pPr>
            <a:r>
              <a:t>Streamlit (demo)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POST /generar → análisis JSON.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OpenAPI en /docs.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UI moderna con scores por brazo.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Proxy Vite → localhost:8000.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Demo para presentación en clase.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Ejemplos precargados (medicación, diagnóstico).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Página de métricas y configuración.</a:t>
            </a:r>
          </a:p>
          <a:p>
            <a:pPr>
              <a:spcAft>
                <a:spcPts val="1000"/>
              </a:spcAft>
              <a:defRPr sz="1700">
                <a:solidFill>
                  <a:srgbClr val="263238"/>
                </a:solidFill>
              </a:defRPr>
            </a:pPr>
            <a:r>
              <a:t>Consentimiento PHI al usar API real.</a:t>
            </a:r>
          </a:p>
        </p:txBody>
      </p:sp>
      <p:pic>
        <p:nvPicPr>
          <p:cNvPr id="8" name="Picture 7" descr="frontend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22726"/>
            <a:ext cx="5029200" cy="3243834"/>
          </a:xfrm>
          <a:prstGeom prst="rect">
            <a:avLst/>
          </a:prstGeom>
        </p:spPr>
      </p:pic>
      <p:pic>
        <p:nvPicPr>
          <p:cNvPr id="9" name="Picture 8" descr="demo_metr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22726"/>
            <a:ext cx="50292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Riesgos y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PHI (CITIMED): anonimización local + Ollama on-premise; no enviar datos a cloud sin DPA.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Latencia: cascada TF-IDF → LLM reduce de ~8 s a ~2 s por nota.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Costo API: ~$0,08–0,15 por 1.000 oraciones (gpt-4o-mini).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Modo degradado: API caída → TF-IDF + banner de alerta (sin mock silencioso).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Auditoría: hash SHA-256 en audit.log, sin texto clínico en logs.</a:t>
            </a:r>
          </a:p>
        </p:txBody>
      </p:sp>
      <p:pic>
        <p:nvPicPr>
          <p:cNvPr id="5" name="Picture 4" descr="demo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89" y="3600514"/>
            <a:ext cx="6432431" cy="24560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inconsistencias</a:t>
            </a:r>
            <a:r>
              <a:rPr dirty="0"/>
              <a:t> </a:t>
            </a:r>
            <a:r>
              <a:rPr dirty="0" err="1"/>
              <a:t>clínicas</a:t>
            </a:r>
            <a:r>
              <a:rPr dirty="0"/>
              <a:t> no es un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léxico</a:t>
            </a:r>
            <a:r>
              <a:rPr dirty="0"/>
              <a:t>: el baseline TF-IDF a </a:t>
            </a:r>
            <a:r>
              <a:rPr dirty="0" err="1"/>
              <a:t>nivel</a:t>
            </a:r>
            <a:r>
              <a:rPr dirty="0"/>
              <a:t> nota no </a:t>
            </a:r>
            <a:r>
              <a:rPr dirty="0" err="1"/>
              <a:t>supera</a:t>
            </a:r>
            <a:r>
              <a:rPr dirty="0"/>
              <a:t> el azar.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/>
              <a:t>La </a:t>
            </a:r>
            <a:r>
              <a:rPr dirty="0" err="1"/>
              <a:t>granularidad</a:t>
            </a:r>
            <a:r>
              <a:rPr dirty="0"/>
              <a:t> </a:t>
            </a:r>
            <a:r>
              <a:rPr dirty="0" err="1"/>
              <a:t>oración</a:t>
            </a:r>
            <a:r>
              <a:rPr dirty="0"/>
              <a:t> + Error Sentence ID de MEDEC </a:t>
            </a:r>
            <a:r>
              <a:rPr dirty="0" err="1"/>
              <a:t>desbloquea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útiles</a:t>
            </a:r>
            <a:r>
              <a:rPr dirty="0"/>
              <a:t> (AUC 0,949, </a:t>
            </a:r>
            <a:r>
              <a:rPr dirty="0" err="1"/>
              <a:t>localización</a:t>
            </a:r>
            <a:r>
              <a:rPr dirty="0"/>
              <a:t> 84,6 %).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híbrida</a:t>
            </a:r>
            <a:r>
              <a:rPr dirty="0"/>
              <a:t> TF-IDF + LLM + RAG </a:t>
            </a:r>
            <a:r>
              <a:rPr dirty="0" err="1"/>
              <a:t>equilibra</a:t>
            </a:r>
            <a:r>
              <a:rPr dirty="0"/>
              <a:t> </a:t>
            </a:r>
            <a:r>
              <a:rPr dirty="0" err="1"/>
              <a:t>velocidad</a:t>
            </a:r>
            <a:r>
              <a:rPr dirty="0"/>
              <a:t>, </a:t>
            </a:r>
            <a:r>
              <a:rPr dirty="0" err="1"/>
              <a:t>costo</a:t>
            </a:r>
            <a:r>
              <a:rPr dirty="0"/>
              <a:t> y </a:t>
            </a:r>
            <a:r>
              <a:rPr dirty="0" err="1"/>
              <a:t>razonamiento</a:t>
            </a:r>
            <a:r>
              <a:rPr dirty="0"/>
              <a:t> </a:t>
            </a:r>
            <a:r>
              <a:rPr dirty="0" err="1"/>
              <a:t>semántico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 err="1"/>
              <a:t>Prototipo</a:t>
            </a:r>
            <a:r>
              <a:rPr dirty="0"/>
              <a:t> end-to-end </a:t>
            </a:r>
            <a:r>
              <a:rPr dirty="0" err="1"/>
              <a:t>listo</a:t>
            </a:r>
            <a:r>
              <a:rPr dirty="0"/>
              <a:t>: API, frontend React, demo </a:t>
            </a:r>
            <a:r>
              <a:rPr dirty="0" err="1"/>
              <a:t>Streamlit</a:t>
            </a:r>
            <a:r>
              <a:rPr dirty="0"/>
              <a:t> y pipeline CITIMED con </a:t>
            </a:r>
            <a:r>
              <a:rPr dirty="0" err="1"/>
              <a:t>anonimizador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rPr dirty="0" err="1"/>
              <a:t>Próximo</a:t>
            </a:r>
            <a:r>
              <a:rPr dirty="0"/>
              <a:t> paso: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odontológico</a:t>
            </a:r>
            <a:r>
              <a:rPr dirty="0"/>
              <a:t> con </a:t>
            </a:r>
            <a:r>
              <a:rPr dirty="0" err="1"/>
              <a:t>Ollama</a:t>
            </a:r>
            <a:r>
              <a:rPr dirty="0"/>
              <a:t> local y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clínica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reales </a:t>
            </a:r>
            <a:r>
              <a:rPr dirty="0" err="1"/>
              <a:t>anonimizados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4010" y="2880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940</Words>
  <Application>Microsoft Office PowerPoint</Application>
  <PresentationFormat>Personalizado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Zurita</cp:lastModifiedBy>
  <cp:revision>2</cp:revision>
  <dcterms:created xsi:type="dcterms:W3CDTF">2013-01-27T09:14:16Z</dcterms:created>
  <dcterms:modified xsi:type="dcterms:W3CDTF">2026-08-25T01:33:58Z</dcterms:modified>
  <cp:category/>
</cp:coreProperties>
</file>