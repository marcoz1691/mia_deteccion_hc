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Detección de inconsistencias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en historias clínicas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2EBF2"/>
                </a:solidFill>
              </a:defRPr>
            </a:pPr>
            <a:r>
              <a:t>CITIMED · Bayas · Puebla · Zurita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</a:defRPr>
            </a:pPr>
            <a:r>
              <a:t>~5 min · asistir al clínico, no reemplazarlo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238"/>
                </a:solidFill>
              </a:defRPr>
            </a:pPr>
            <a:r>
              <a:t>Errores en historias clínicas: medicación contraindicada, plan incompatible con diagnóstico.</a:t>
            </a:r>
          </a:p>
          <a:p>
            <a:pPr>
              <a:spcAft>
                <a:spcPts val="1000"/>
              </a:spcAft>
              <a:defRPr sz="2200">
                <a:solidFill>
                  <a:srgbClr val="263238"/>
                </a:solidFill>
              </a:defRPr>
            </a:pPr>
            <a:r>
              <a:t>Revisión manual: lenta y propensa a pasar errores por alto.</a:t>
            </a:r>
          </a:p>
          <a:p>
            <a:pPr>
              <a:spcAft>
                <a:spcPts val="1000"/>
              </a:spcAft>
              <a:defRPr sz="2200">
                <a:solidFill>
                  <a:srgbClr val="263238"/>
                </a:solidFill>
              </a:defRPr>
            </a:pPr>
            <a:r>
              <a:t>Objetivo: señalar la oración sospechosa para que el médico decida.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Insight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</a:defRPr>
            </a:pPr>
            <a:r>
              <a:t>Nota completa → oración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63238"/>
                </a:solidFill>
              </a:defRPr>
            </a:pPr>
            <a:r>
              <a:t>MEDEC: nota con error vs. corregida comparten ~96,6 % del texto.</a:t>
            </a:r>
          </a:p>
          <a:p>
            <a:pPr>
              <a:spcAft>
                <a:spcPts val="1000"/>
              </a:spcAft>
              <a:defRPr sz="2100">
                <a:solidFill>
                  <a:srgbClr val="263238"/>
                </a:solidFill>
              </a:defRPr>
            </a:pPr>
            <a:r>
              <a:t>Baseline a nivel nota: ROC-AUC = 0,504 (azar).</a:t>
            </a:r>
          </a:p>
          <a:p>
            <a:pPr>
              <a:spcAft>
                <a:spcPts val="1000"/>
              </a:spcAft>
              <a:defRPr sz="2100">
                <a:solidFill>
                  <a:srgbClr val="263238"/>
                </a:solidFill>
              </a:defRPr>
            </a:pPr>
            <a:r>
              <a:t>A nivel oración: ROC-AUC = 0,949 · localización top-1 = 84,6 %.</a:t>
            </a:r>
          </a:p>
          <a:p>
            <a:pPr>
              <a:spcAft>
                <a:spcPts val="1000"/>
              </a:spcAft>
              <a:defRPr sz="2100">
                <a:solidFill>
                  <a:srgbClr val="263238"/>
                </a:solidFill>
              </a:defRPr>
            </a:pPr>
            <a:r>
              <a:t>→ No es un problema léxico; exige razonamiento semántico.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1. Segmentar nota en oraciones.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2. Tres brazos: TF-IDF (rápido, local) · LLM zero-shot · LLM + RAG (guías clínicas).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3. Fusión de scores → oración top-1 a revisar.</a:t>
            </a:r>
          </a:p>
          <a:p>
            <a:pPr>
              <a:spcAft>
                <a:spcPts val="1000"/>
              </a:spcAft>
              <a:defRPr sz="1900">
                <a:solidFill>
                  <a:srgbClr val="263238"/>
                </a:solidFill>
              </a:defRPr>
            </a:pPr>
            <a:r>
              <a:t>API FastAPI + React · Demo Streamlit · fallback TF-IDF si cae el LLM.</a:t>
            </a:r>
          </a:p>
        </p:txBody>
      </p:sp>
      <p:pic>
        <p:nvPicPr>
          <p:cNvPr id="5" name="Picture 4" descr="frontend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486400" cy="3707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Alergia a penicilina documentada.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Oración sospechosa: amoxicilina pese a alergia.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Sistema resalta la oración · RAG justifica con guías de farmacoterapia.</a:t>
            </a:r>
          </a:p>
        </p:txBody>
      </p:sp>
      <p:pic>
        <p:nvPicPr>
          <p:cNvPr id="5" name="Picture 4" descr="demo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5669280" cy="3710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 (MEDEC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933956" y="182880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71116" y="2057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0.949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1116" y="2788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1116" y="3246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Nivel oración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4316" y="182880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1476" y="2057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0.419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6" y="2788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AUPRC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1476" y="3246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Prevalencia 4,5 %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4676" y="1828800"/>
            <a:ext cx="2560320" cy="2011680"/>
          </a:xfrm>
          <a:prstGeom prst="rect">
            <a:avLst/>
          </a:prstGeom>
          <a:solidFill>
            <a:srgbClr val="ECF0F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1836" y="2057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47A1"/>
                </a:solidFill>
              </a:defRPr>
            </a:pPr>
            <a:r>
              <a:t>84.6 %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1836" y="2788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63238"/>
                </a:solidFill>
              </a:defRPr>
            </a:pPr>
            <a:r>
              <a:t>Localización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1836" y="3246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E7A"/>
                </a:solidFill>
              </a:defRPr>
            </a:pPr>
            <a:r>
              <a:t>263/311 notas</a:t>
            </a:r>
          </a:p>
        </p:txBody>
      </p:sp>
      <p:pic>
        <p:nvPicPr>
          <p:cNvPr id="16" name="Picture 15" descr="figura_aju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114800"/>
            <a:ext cx="7589520" cy="2276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Prototipo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Prototipo end-to-end: API + React + Streamlit (mock LLM local).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Anonimizador CITIMED para PHI · Ollama on-premise en producción.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Próximo paso: piloto odontológico con validación clínica.</a:t>
            </a:r>
          </a:p>
          <a:p>
            <a:pPr>
              <a:spcAft>
                <a:spcPts val="1000"/>
              </a:spcAft>
              <a:defRPr sz="2000">
                <a:solidFill>
                  <a:srgbClr val="263238"/>
                </a:solidFill>
              </a:defRPr>
            </a:pPr>
            <a:r>
              <a:t>github.com/marcoz1691/MIA_Deteccion_HC</a:t>
            </a:r>
          </a:p>
        </p:txBody>
      </p:sp>
      <p:pic>
        <p:nvPicPr>
          <p:cNvPr id="5" name="Picture 4" descr="demo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¡Gracias!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